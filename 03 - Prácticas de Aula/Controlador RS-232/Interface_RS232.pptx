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5" r:id="rId2"/>
    <p:sldId id="256" r:id="rId3"/>
    <p:sldId id="274" r:id="rId4"/>
    <p:sldId id="279" r:id="rId5"/>
    <p:sldId id="273" r:id="rId6"/>
    <p:sldId id="260" r:id="rId7"/>
    <p:sldId id="261" r:id="rId8"/>
    <p:sldId id="276" r:id="rId9"/>
    <p:sldId id="277" r:id="rId10"/>
    <p:sldId id="265" r:id="rId11"/>
    <p:sldId id="258" r:id="rId12"/>
    <p:sldId id="278" r:id="rId13"/>
    <p:sldId id="280" r:id="rId14"/>
    <p:sldId id="262" r:id="rId15"/>
    <p:sldId id="281" r:id="rId16"/>
    <p:sldId id="282" r:id="rId17"/>
    <p:sldId id="266" r:id="rId18"/>
    <p:sldId id="267" r:id="rId19"/>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8" autoAdjust="0"/>
    <p:restoredTop sz="94643" autoAdjust="0"/>
  </p:normalViewPr>
  <p:slideViewPr>
    <p:cSldViewPr>
      <p:cViewPr>
        <p:scale>
          <a:sx n="50" d="100"/>
          <a:sy n="50" d="100"/>
        </p:scale>
        <p:origin x="-1203" y="-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120DF97-996E-4A10-B1D4-3535D91C69FF}" type="datetimeFigureOut">
              <a:rPr lang="es-ES" smtClean="0"/>
              <a:pPr/>
              <a:t>08/02/2021</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AD3AEA-90F6-4AB3-AF63-D91D14284CCF}" type="slidenum">
              <a:rPr lang="es-ES" smtClean="0"/>
              <a:pPr/>
              <a:t>‹Nº›</a:t>
            </a:fld>
            <a:endParaRPr lang="es-E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E9837C77-1EAD-4CF5-B05E-B745790B5636}" type="datetimeFigureOut">
              <a:rPr lang="es-ES" smtClean="0"/>
              <a:pPr/>
              <a:t>08/02/2021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9BA84E0-B4A7-4B37-A1F6-9E3476119127}"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E9837C77-1EAD-4CF5-B05E-B745790B5636}" type="datetimeFigureOut">
              <a:rPr lang="es-ES" smtClean="0"/>
              <a:pPr/>
              <a:t>08/02/2021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9BA84E0-B4A7-4B37-A1F6-9E3476119127}"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E9837C77-1EAD-4CF5-B05E-B745790B5636}" type="datetimeFigureOut">
              <a:rPr lang="es-ES" smtClean="0"/>
              <a:pPr/>
              <a:t>08/02/2021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9BA84E0-B4A7-4B37-A1F6-9E3476119127}"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E9837C77-1EAD-4CF5-B05E-B745790B5636}" type="datetimeFigureOut">
              <a:rPr lang="es-ES" smtClean="0"/>
              <a:pPr/>
              <a:t>08/02/2021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B9BA84E0-B4A7-4B37-A1F6-9E3476119127}"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E9837C77-1EAD-4CF5-B05E-B745790B5636}" type="datetimeFigureOut">
              <a:rPr lang="es-ES" smtClean="0"/>
              <a:pPr/>
              <a:t>08/02/2021</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B9BA84E0-B4A7-4B37-A1F6-9E3476119127}"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E9837C77-1EAD-4CF5-B05E-B745790B5636}" type="datetimeFigureOut">
              <a:rPr lang="es-ES" smtClean="0"/>
              <a:pPr/>
              <a:t>08/02/2021</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B9BA84E0-B4A7-4B37-A1F6-9E3476119127}"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E9837C77-1EAD-4CF5-B05E-B745790B5636}" type="datetimeFigureOut">
              <a:rPr lang="es-ES" smtClean="0"/>
              <a:pPr/>
              <a:t>08/02/2021</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B9BA84E0-B4A7-4B37-A1F6-9E3476119127}"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E9837C77-1EAD-4CF5-B05E-B745790B5636}" type="datetimeFigureOut">
              <a:rPr lang="es-ES" smtClean="0"/>
              <a:pPr/>
              <a:t>08/02/2021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B9BA84E0-B4A7-4B37-A1F6-9E3476119127}"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E9837C77-1EAD-4CF5-B05E-B745790B5636}" type="datetimeFigureOut">
              <a:rPr lang="es-ES" smtClean="0"/>
              <a:pPr/>
              <a:t>08/02/2021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B9BA84E0-B4A7-4B37-A1F6-9E3476119127}"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E9837C77-1EAD-4CF5-B05E-B745790B5636}" type="datetimeFigureOut">
              <a:rPr lang="es-ES" smtClean="0"/>
              <a:pPr/>
              <a:t>08/02/2021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9BA84E0-B4A7-4B37-A1F6-9E3476119127}"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E9837C77-1EAD-4CF5-B05E-B745790B5636}" type="datetimeFigureOut">
              <a:rPr lang="es-ES" smtClean="0"/>
              <a:pPr/>
              <a:t>08/02/2021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9BA84E0-B4A7-4B37-A1F6-9E3476119127}"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837C77-1EAD-4CF5-B05E-B745790B5636}" type="datetimeFigureOut">
              <a:rPr lang="es-ES" smtClean="0"/>
              <a:pPr/>
              <a:t>08/02/2021</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BA84E0-B4A7-4B37-A1F6-9E3476119127}"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s://es.wikipedia.org/wiki/N%C3%BAmeros_pares_e_impares" TargetMode="External"/><Relationship Id="rId2" Type="http://schemas.openxmlformats.org/officeDocument/2006/relationships/hyperlink" Target="https://es.wikipedia.org/wiki/Bit" TargetMode="External"/><Relationship Id="rId1" Type="http://schemas.openxmlformats.org/officeDocument/2006/relationships/slideLayout" Target="../slideLayouts/slideLayout2.xml"/><Relationship Id="rId4" Type="http://schemas.openxmlformats.org/officeDocument/2006/relationships/hyperlink" Target="https://es.wikipedia.org/wiki/Detecci%C3%B3n_de_errores"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normAutofit fontScale="90000"/>
          </a:bodyPr>
          <a:lstStyle/>
          <a:p>
            <a:r>
              <a:rPr lang="es-ES" b="1" dirty="0" smtClean="0"/>
              <a:t>UART (Universal </a:t>
            </a:r>
            <a:r>
              <a:rPr lang="es-ES" b="1" dirty="0" err="1" smtClean="0"/>
              <a:t>Asynchronous</a:t>
            </a:r>
            <a:r>
              <a:rPr lang="es-ES" b="1" dirty="0" smtClean="0"/>
              <a:t> Receiver-</a:t>
            </a:r>
            <a:r>
              <a:rPr lang="es-ES" b="1" dirty="0" err="1" smtClean="0"/>
              <a:t>Transmitter</a:t>
            </a:r>
            <a:r>
              <a:rPr lang="es-ES" b="1" dirty="0" smtClean="0"/>
              <a:t> ). Comunicación serie asíncrona </a:t>
            </a:r>
            <a:endParaRPr lang="es-E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https://upload.wikimedia.org/wikipedia/commons/thumb/a/a6/Parallel_and_Serial_Transmission.gif/300px-Parallel_and_Serial_Transmission.gif"/>
          <p:cNvPicPr>
            <a:picLocks noChangeAspect="1" noChangeArrowheads="1"/>
          </p:cNvPicPr>
          <p:nvPr/>
        </p:nvPicPr>
        <p:blipFill>
          <a:blip r:embed="rId2" cstate="print"/>
          <a:srcRect/>
          <a:stretch>
            <a:fillRect/>
          </a:stretch>
        </p:blipFill>
        <p:spPr bwMode="auto">
          <a:xfrm>
            <a:off x="1547664" y="476672"/>
            <a:ext cx="5492776" cy="5877272"/>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755576" y="1916832"/>
            <a:ext cx="7364285" cy="4353272"/>
          </a:xfrm>
          <a:prstGeom prst="rect">
            <a:avLst/>
          </a:prstGeom>
          <a:noFill/>
          <a:ln w="9525">
            <a:noFill/>
            <a:miter lim="800000"/>
            <a:headEnd/>
            <a:tailEnd/>
          </a:ln>
        </p:spPr>
      </p:pic>
      <p:sp>
        <p:nvSpPr>
          <p:cNvPr id="8" name="1 Título"/>
          <p:cNvSpPr txBox="1">
            <a:spLocks/>
          </p:cNvSpPr>
          <p:nvPr/>
        </p:nvSpPr>
        <p:spPr>
          <a:xfrm>
            <a:off x="323528" y="620688"/>
            <a:ext cx="8229600" cy="1143000"/>
          </a:xfrm>
          <a:prstGeom prst="rect">
            <a:avLst/>
          </a:prstGeom>
        </p:spPr>
        <p:txBody>
          <a:bodyPr vert="horz" lIns="91440" tIns="45720" rIns="91440" bIns="45720" rtlCol="0" anchor="ctr">
            <a:normAutofit fontScale="9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 sz="4400" b="0" i="0" u="none" strike="noStrike" kern="1200" cap="none" spc="0" normalizeH="0" baseline="0" noProof="0" dirty="0" smtClean="0">
                <a:ln>
                  <a:noFill/>
                </a:ln>
                <a:solidFill>
                  <a:schemeClr val="tx1"/>
                </a:solidFill>
                <a:effectLst/>
                <a:uLnTx/>
                <a:uFillTx/>
                <a:latin typeface="+mj-lt"/>
                <a:ea typeface="+mj-ea"/>
                <a:cs typeface="+mj-cs"/>
              </a:rPr>
              <a:t>2 Port PCI Express RS232 serial </a:t>
            </a:r>
            <a:r>
              <a:rPr kumimoji="0" lang="es-ES" sz="4400" b="0" i="0" u="none" strike="noStrike" kern="1200" cap="none" spc="0" normalizeH="0" baseline="0" noProof="0" dirty="0" err="1" smtClean="0">
                <a:ln>
                  <a:noFill/>
                </a:ln>
                <a:solidFill>
                  <a:schemeClr val="tx1"/>
                </a:solidFill>
                <a:effectLst/>
                <a:uLnTx/>
                <a:uFillTx/>
                <a:latin typeface="+mj-lt"/>
                <a:ea typeface="+mj-ea"/>
                <a:cs typeface="+mj-cs"/>
              </a:rPr>
              <a:t>comunication</a:t>
            </a:r>
            <a:endParaRPr kumimoji="0" lang="es-E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0" y="1412776"/>
            <a:ext cx="9144000" cy="443650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electronica.ugr.es/~amroldan/modulos/temas_tecnicos/rs232/rs232_archivos/dte_dce.gif"/>
          <p:cNvPicPr>
            <a:picLocks noChangeAspect="1" noChangeArrowheads="1"/>
          </p:cNvPicPr>
          <p:nvPr/>
        </p:nvPicPr>
        <p:blipFill>
          <a:blip r:embed="rId2" cstate="print"/>
          <a:srcRect/>
          <a:stretch>
            <a:fillRect/>
          </a:stretch>
        </p:blipFill>
        <p:spPr bwMode="auto">
          <a:xfrm>
            <a:off x="899592" y="2420888"/>
            <a:ext cx="6797858" cy="2852674"/>
          </a:xfrm>
          <a:prstGeom prst="rect">
            <a:avLst/>
          </a:prstGeom>
          <a:noFill/>
        </p:spPr>
      </p:pic>
      <p:sp>
        <p:nvSpPr>
          <p:cNvPr id="4" name="1 Título"/>
          <p:cNvSpPr>
            <a:spLocks noGrp="1"/>
          </p:cNvSpPr>
          <p:nvPr>
            <p:ph type="title"/>
          </p:nvPr>
        </p:nvSpPr>
        <p:spPr>
          <a:xfrm>
            <a:off x="395536" y="404664"/>
            <a:ext cx="8229600" cy="1143000"/>
          </a:xfrm>
        </p:spPr>
        <p:txBody>
          <a:bodyPr>
            <a:normAutofit/>
          </a:bodyPr>
          <a:lstStyle/>
          <a:p>
            <a:r>
              <a:rPr lang="es-ES" b="1" dirty="0" smtClean="0"/>
              <a:t>Esquema de la conexión RS-232</a:t>
            </a:r>
            <a:endParaRPr lang="es-E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395536" y="404664"/>
            <a:ext cx="8229600" cy="1143000"/>
          </a:xfrm>
        </p:spPr>
        <p:txBody>
          <a:bodyPr>
            <a:normAutofit fontScale="90000"/>
          </a:bodyPr>
          <a:lstStyle/>
          <a:p>
            <a:r>
              <a:rPr lang="es-ES" b="1" dirty="0" smtClean="0"/>
              <a:t>Conexión RS-232 para verificación y test de sistemas electrónicos</a:t>
            </a:r>
            <a:endParaRPr lang="es-ES" dirty="0"/>
          </a:p>
        </p:txBody>
      </p:sp>
      <p:pic>
        <p:nvPicPr>
          <p:cNvPr id="5123" name="Picture 3"/>
          <p:cNvPicPr>
            <a:picLocks noChangeAspect="1" noChangeArrowheads="1"/>
          </p:cNvPicPr>
          <p:nvPr/>
        </p:nvPicPr>
        <p:blipFill>
          <a:blip r:embed="rId2" cstate="print"/>
          <a:srcRect/>
          <a:stretch>
            <a:fillRect/>
          </a:stretch>
        </p:blipFill>
        <p:spPr bwMode="auto">
          <a:xfrm>
            <a:off x="539552" y="1772816"/>
            <a:ext cx="8117681" cy="3067477"/>
          </a:xfrm>
          <a:prstGeom prst="rect">
            <a:avLst/>
          </a:prstGeom>
          <a:noFill/>
          <a:ln w="9525">
            <a:no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467544" y="5157192"/>
            <a:ext cx="3608115" cy="1460308"/>
          </a:xfrm>
          <a:prstGeom prst="rect">
            <a:avLst/>
          </a:prstGeom>
          <a:noFill/>
          <a:ln w="9525">
            <a:noFill/>
            <a:miter lim="800000"/>
            <a:headEnd/>
            <a:tailEnd/>
          </a:ln>
        </p:spPr>
      </p:pic>
      <p:sp>
        <p:nvSpPr>
          <p:cNvPr id="9" name="8 Rectángulo"/>
          <p:cNvSpPr/>
          <p:nvPr/>
        </p:nvSpPr>
        <p:spPr>
          <a:xfrm>
            <a:off x="2843808" y="5877272"/>
            <a:ext cx="2448272" cy="646331"/>
          </a:xfrm>
          <a:prstGeom prst="rect">
            <a:avLst/>
          </a:prstGeom>
        </p:spPr>
        <p:txBody>
          <a:bodyPr wrap="square">
            <a:spAutoFit/>
          </a:bodyPr>
          <a:lstStyle/>
          <a:p>
            <a:r>
              <a:rPr lang="es-ES" i="1" dirty="0" smtClean="0"/>
              <a:t>Conector DB9 hembra y</a:t>
            </a:r>
          </a:p>
          <a:p>
            <a:r>
              <a:rPr lang="es-ES" i="1" dirty="0" smtClean="0"/>
              <a:t>pines utilizados </a:t>
            </a:r>
            <a:endParaRPr lang="es-ES" dirty="0"/>
          </a:p>
        </p:txBody>
      </p:sp>
      <p:sp>
        <p:nvSpPr>
          <p:cNvPr id="7" name="6 CuadroTexto"/>
          <p:cNvSpPr txBox="1"/>
          <p:nvPr/>
        </p:nvSpPr>
        <p:spPr>
          <a:xfrm>
            <a:off x="683568" y="3050376"/>
            <a:ext cx="2545762" cy="738664"/>
          </a:xfrm>
          <a:prstGeom prst="rect">
            <a:avLst/>
          </a:prstGeom>
          <a:solidFill>
            <a:schemeClr val="bg1"/>
          </a:solidFill>
        </p:spPr>
        <p:txBody>
          <a:bodyPr wrap="none" rtlCol="0">
            <a:spAutoFit/>
          </a:bodyPr>
          <a:lstStyle/>
          <a:p>
            <a:pPr algn="ctr"/>
            <a:r>
              <a:rPr lang="es-ES" sz="1400" b="1" dirty="0" smtClean="0">
                <a:solidFill>
                  <a:srgbClr val="FF0000"/>
                </a:solidFill>
              </a:rPr>
              <a:t>SISTEMA ELECRÓNICO  BASADO</a:t>
            </a:r>
          </a:p>
          <a:p>
            <a:pPr algn="ctr"/>
            <a:r>
              <a:rPr lang="es-ES" sz="1400" b="1" dirty="0" smtClean="0">
                <a:solidFill>
                  <a:srgbClr val="FF0000"/>
                </a:solidFill>
              </a:rPr>
              <a:t>EN UNA FPGA O</a:t>
            </a:r>
          </a:p>
          <a:p>
            <a:pPr algn="ctr"/>
            <a:r>
              <a:rPr lang="es-ES" sz="1400" b="1" dirty="0" smtClean="0">
                <a:solidFill>
                  <a:srgbClr val="FF0000"/>
                </a:solidFill>
              </a:rPr>
              <a:t> EN UN MICROCONTROLADOR </a:t>
            </a:r>
            <a:endParaRPr lang="es-ES" sz="1400" b="1" dirty="0">
              <a:solidFill>
                <a:srgbClr val="FF0000"/>
              </a:solidFill>
            </a:endParaRPr>
          </a:p>
        </p:txBody>
      </p:sp>
      <p:sp>
        <p:nvSpPr>
          <p:cNvPr id="10" name="9 CuadroTexto"/>
          <p:cNvSpPr txBox="1"/>
          <p:nvPr/>
        </p:nvSpPr>
        <p:spPr>
          <a:xfrm>
            <a:off x="6012160" y="5373216"/>
            <a:ext cx="2676567" cy="707886"/>
          </a:xfrm>
          <a:prstGeom prst="rect">
            <a:avLst/>
          </a:prstGeom>
          <a:noFill/>
        </p:spPr>
        <p:txBody>
          <a:bodyPr wrap="none" rtlCol="0">
            <a:spAutoFit/>
          </a:bodyPr>
          <a:lstStyle/>
          <a:p>
            <a:r>
              <a:rPr lang="es-ES" sz="2000" b="1" dirty="0" smtClean="0">
                <a:solidFill>
                  <a:srgbClr val="FF0000"/>
                </a:solidFill>
              </a:rPr>
              <a:t>Actualmente se utilizan</a:t>
            </a:r>
          </a:p>
          <a:p>
            <a:r>
              <a:rPr lang="es-ES" sz="2000" b="1" dirty="0" smtClean="0">
                <a:solidFill>
                  <a:srgbClr val="FF0000"/>
                </a:solidFill>
              </a:rPr>
              <a:t>bridges RS232- USB</a:t>
            </a:r>
            <a:endParaRPr lang="es-ES" sz="2000" b="1"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t>Protocolo de comunicación RS-232</a:t>
            </a:r>
            <a:endParaRPr lang="es-ES" dirty="0"/>
          </a:p>
        </p:txBody>
      </p:sp>
      <p:pic>
        <p:nvPicPr>
          <p:cNvPr id="6147" name="Picture 3"/>
          <p:cNvPicPr>
            <a:picLocks noChangeAspect="1" noChangeArrowheads="1"/>
          </p:cNvPicPr>
          <p:nvPr/>
        </p:nvPicPr>
        <p:blipFill>
          <a:blip r:embed="rId2" cstate="print"/>
          <a:srcRect/>
          <a:stretch>
            <a:fillRect/>
          </a:stretch>
        </p:blipFill>
        <p:spPr bwMode="auto">
          <a:xfrm>
            <a:off x="10476656" y="2924944"/>
            <a:ext cx="2334047" cy="1564443"/>
          </a:xfrm>
          <a:prstGeom prst="rect">
            <a:avLst/>
          </a:prstGeom>
          <a:noFill/>
          <a:ln w="9525">
            <a:noFill/>
            <a:miter lim="800000"/>
            <a:headEnd/>
            <a:tailEnd/>
          </a:ln>
        </p:spPr>
      </p:pic>
      <p:pic>
        <p:nvPicPr>
          <p:cNvPr id="6148" name="Picture 4"/>
          <p:cNvPicPr>
            <a:picLocks noChangeAspect="1" noChangeArrowheads="1"/>
          </p:cNvPicPr>
          <p:nvPr/>
        </p:nvPicPr>
        <p:blipFill>
          <a:blip r:embed="rId3" cstate="print"/>
          <a:srcRect/>
          <a:stretch>
            <a:fillRect/>
          </a:stretch>
        </p:blipFill>
        <p:spPr bwMode="auto">
          <a:xfrm>
            <a:off x="0" y="1340768"/>
            <a:ext cx="9144000" cy="3841384"/>
          </a:xfrm>
          <a:prstGeom prst="rect">
            <a:avLst/>
          </a:prstGeom>
          <a:noFill/>
          <a:ln w="9525">
            <a:noFill/>
            <a:miter lim="800000"/>
            <a:headEnd/>
            <a:tailEnd/>
          </a:ln>
        </p:spPr>
      </p:pic>
      <p:pic>
        <p:nvPicPr>
          <p:cNvPr id="5" name="Picture 4"/>
          <p:cNvPicPr>
            <a:picLocks noChangeAspect="1" noChangeArrowheads="1"/>
          </p:cNvPicPr>
          <p:nvPr/>
        </p:nvPicPr>
        <p:blipFill>
          <a:blip r:embed="rId4" cstate="print"/>
          <a:srcRect/>
          <a:stretch>
            <a:fillRect/>
          </a:stretch>
        </p:blipFill>
        <p:spPr bwMode="auto">
          <a:xfrm>
            <a:off x="323528" y="5350290"/>
            <a:ext cx="8485897" cy="1463086"/>
          </a:xfrm>
          <a:prstGeom prst="rect">
            <a:avLst/>
          </a:prstGeom>
          <a:noFill/>
          <a:ln w="9525">
            <a:noFill/>
            <a:miter lim="800000"/>
            <a:headEnd/>
            <a:tailEnd/>
          </a:ln>
        </p:spPr>
      </p:pic>
      <p:sp>
        <p:nvSpPr>
          <p:cNvPr id="6" name="5 CuadroTexto"/>
          <p:cNvSpPr txBox="1"/>
          <p:nvPr/>
        </p:nvSpPr>
        <p:spPr>
          <a:xfrm>
            <a:off x="323528" y="4797152"/>
            <a:ext cx="4016805" cy="646331"/>
          </a:xfrm>
          <a:prstGeom prst="rect">
            <a:avLst/>
          </a:prstGeom>
          <a:noFill/>
        </p:spPr>
        <p:txBody>
          <a:bodyPr wrap="none" rtlCol="0">
            <a:spAutoFit/>
          </a:bodyPr>
          <a:lstStyle/>
          <a:p>
            <a:r>
              <a:rPr lang="es-ES" b="1" dirty="0" smtClean="0">
                <a:solidFill>
                  <a:srgbClr val="FF0000"/>
                </a:solidFill>
              </a:rPr>
              <a:t>FIJAR LOS MISMOS PARAMETROS EN EL</a:t>
            </a:r>
          </a:p>
          <a:p>
            <a:r>
              <a:rPr lang="es-ES" b="1" dirty="0" smtClean="0">
                <a:solidFill>
                  <a:srgbClr val="FF0000"/>
                </a:solidFill>
              </a:rPr>
              <a:t>TRANSMISOR Y EN EL RECEPTOR</a:t>
            </a:r>
            <a:endParaRPr lang="es-ES" b="1" dirty="0">
              <a:solidFill>
                <a:srgbClr val="FF0000"/>
              </a:solidFill>
            </a:endParaRPr>
          </a:p>
        </p:txBody>
      </p:sp>
      <p:cxnSp>
        <p:nvCxnSpPr>
          <p:cNvPr id="8" name="7 Conector recto"/>
          <p:cNvCxnSpPr/>
          <p:nvPr/>
        </p:nvCxnSpPr>
        <p:spPr>
          <a:xfrm>
            <a:off x="2915816" y="5877272"/>
            <a:ext cx="0" cy="980728"/>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7740352" y="5877272"/>
            <a:ext cx="0" cy="980728"/>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a:off x="4572000" y="5877272"/>
            <a:ext cx="0" cy="980728"/>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Bit de paridad</a:t>
            </a:r>
            <a:endParaRPr lang="es-ES" dirty="0"/>
          </a:p>
        </p:txBody>
      </p:sp>
      <p:sp>
        <p:nvSpPr>
          <p:cNvPr id="3" name="2 Marcador de contenido"/>
          <p:cNvSpPr>
            <a:spLocks noGrp="1"/>
          </p:cNvSpPr>
          <p:nvPr>
            <p:ph idx="1"/>
          </p:nvPr>
        </p:nvSpPr>
        <p:spPr>
          <a:xfrm>
            <a:off x="179512" y="1340768"/>
            <a:ext cx="8748464" cy="4597971"/>
          </a:xfrm>
        </p:spPr>
        <p:txBody>
          <a:bodyPr>
            <a:noAutofit/>
          </a:bodyPr>
          <a:lstStyle/>
          <a:p>
            <a:r>
              <a:rPr lang="es-ES" sz="2400" dirty="0" smtClean="0"/>
              <a:t>Un </a:t>
            </a:r>
            <a:r>
              <a:rPr lang="es-ES" sz="2400" b="1" dirty="0" smtClean="0"/>
              <a:t>bit de paridad</a:t>
            </a:r>
            <a:r>
              <a:rPr lang="es-ES" sz="2400" dirty="0" smtClean="0"/>
              <a:t> es un </a:t>
            </a:r>
            <a:r>
              <a:rPr lang="es-ES" sz="2400" dirty="0" smtClean="0">
                <a:hlinkClick r:id="rId2" tooltip="Bit"/>
              </a:rPr>
              <a:t>dígito binario</a:t>
            </a:r>
            <a:r>
              <a:rPr lang="es-ES" sz="2400" dirty="0" smtClean="0"/>
              <a:t> que indica si el número de bits con un valor de </a:t>
            </a:r>
            <a:r>
              <a:rPr lang="es-ES" sz="2400" i="1" dirty="0" smtClean="0"/>
              <a:t>1</a:t>
            </a:r>
            <a:r>
              <a:rPr lang="es-ES" sz="2400" dirty="0" smtClean="0"/>
              <a:t> en un conjunto de bits es </a:t>
            </a:r>
            <a:r>
              <a:rPr lang="es-ES" sz="2400" dirty="0" smtClean="0">
                <a:hlinkClick r:id="rId3" tooltip="Números pares e impares"/>
              </a:rPr>
              <a:t>par</a:t>
            </a:r>
            <a:r>
              <a:rPr lang="es-ES" sz="2400" dirty="0" smtClean="0"/>
              <a:t> o </a:t>
            </a:r>
            <a:r>
              <a:rPr lang="es-ES" sz="2400" dirty="0" smtClean="0">
                <a:hlinkClick r:id="rId3" tooltip="Números pares e impares"/>
              </a:rPr>
              <a:t>impar</a:t>
            </a:r>
            <a:r>
              <a:rPr lang="es-ES" sz="2400" dirty="0" smtClean="0"/>
              <a:t>. Los bits de paridad conforman el método de </a:t>
            </a:r>
            <a:r>
              <a:rPr lang="es-ES" sz="2400" dirty="0" smtClean="0">
                <a:hlinkClick r:id="rId4" tooltip="Detección de errores"/>
              </a:rPr>
              <a:t>detección de errores</a:t>
            </a:r>
            <a:r>
              <a:rPr lang="es-ES" sz="2400" dirty="0" smtClean="0"/>
              <a:t> más simple.</a:t>
            </a:r>
          </a:p>
          <a:p>
            <a:endParaRPr lang="es-ES" sz="2400" dirty="0" smtClean="0"/>
          </a:p>
          <a:p>
            <a:r>
              <a:rPr lang="es-ES" sz="2400" dirty="0" smtClean="0"/>
              <a:t>Nótese que este método detecta los errores, pero no los corrige. Existen dos variantes de este método, bit de paridad par y bit de paridad impar: </a:t>
            </a:r>
          </a:p>
          <a:p>
            <a:endParaRPr lang="es-ES" sz="2400" dirty="0" smtClean="0"/>
          </a:p>
          <a:p>
            <a:r>
              <a:rPr lang="es-ES" sz="2400" dirty="0" smtClean="0"/>
              <a:t>En el caso de la </a:t>
            </a:r>
            <a:r>
              <a:rPr lang="es-ES" sz="2400" b="1" dirty="0" smtClean="0"/>
              <a:t>paridad par</a:t>
            </a:r>
            <a:r>
              <a:rPr lang="es-ES" sz="2400" dirty="0" smtClean="0"/>
              <a:t>, se cuentan el número de unos. Si el total es impar, el bit de paridad se establece en uno y por tanto la suma del total anterior con este bit de paridad, daría par. Si el conteo de bits uno es par, entonces el bit de paridad (par) se deja en 0, pues ya es par. </a:t>
            </a:r>
          </a:p>
          <a:p>
            <a:pPr>
              <a:buNone/>
            </a:pPr>
            <a:endParaRPr lang="es-ES" sz="2400" dirty="0" smtClean="0"/>
          </a:p>
          <a:p>
            <a:r>
              <a:rPr lang="es-ES" sz="2400" dirty="0" smtClean="0"/>
              <a:t>En el caso de </a:t>
            </a:r>
            <a:r>
              <a:rPr lang="es-ES" sz="2400" b="1" dirty="0" smtClean="0"/>
              <a:t>la paridad impar</a:t>
            </a:r>
            <a:r>
              <a:rPr lang="es-ES" sz="2400" dirty="0" smtClean="0"/>
              <a:t>, la situación es la contraria.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dirty="0" smtClean="0"/>
              <a:t>Diseñar circuitos de detección de paridad para comunicaciones de datos de 8 bits</a:t>
            </a:r>
            <a:endParaRPr lang="es-ES" sz="3600" dirty="0"/>
          </a:p>
        </p:txBody>
      </p:sp>
      <p:pic>
        <p:nvPicPr>
          <p:cNvPr id="1026" name="Picture 2"/>
          <p:cNvPicPr>
            <a:picLocks noChangeAspect="1" noChangeArrowheads="1"/>
          </p:cNvPicPr>
          <p:nvPr/>
        </p:nvPicPr>
        <p:blipFill>
          <a:blip r:embed="rId2" cstate="print"/>
          <a:srcRect/>
          <a:stretch>
            <a:fillRect/>
          </a:stretch>
        </p:blipFill>
        <p:spPr bwMode="auto">
          <a:xfrm>
            <a:off x="971600" y="2132856"/>
            <a:ext cx="4320480" cy="2607946"/>
          </a:xfrm>
          <a:prstGeom prst="rect">
            <a:avLst/>
          </a:prstGeom>
          <a:noFill/>
          <a:ln w="9525">
            <a:noFill/>
            <a:miter lim="800000"/>
            <a:headEnd/>
            <a:tailEnd/>
          </a:ln>
        </p:spPr>
      </p:pic>
      <p:sp>
        <p:nvSpPr>
          <p:cNvPr id="4" name="3 CuadroTexto"/>
          <p:cNvSpPr txBox="1"/>
          <p:nvPr/>
        </p:nvSpPr>
        <p:spPr>
          <a:xfrm>
            <a:off x="683568" y="5157192"/>
            <a:ext cx="7992887" cy="1200329"/>
          </a:xfrm>
          <a:prstGeom prst="rect">
            <a:avLst/>
          </a:prstGeom>
          <a:noFill/>
        </p:spPr>
        <p:txBody>
          <a:bodyPr wrap="square" rtlCol="0">
            <a:spAutoFit/>
          </a:bodyPr>
          <a:lstStyle/>
          <a:p>
            <a:r>
              <a:rPr lang="es-ES" sz="2400" dirty="0" smtClean="0"/>
              <a:t>El método de control de paridad no es perfecto , funciona mal en casos como si en la </a:t>
            </a:r>
            <a:r>
              <a:rPr lang="es-ES" sz="2400" dirty="0" err="1" smtClean="0"/>
              <a:t>linea</a:t>
            </a:r>
            <a:r>
              <a:rPr lang="es-ES" sz="2400" dirty="0" smtClean="0"/>
              <a:t> de transmisión se alteran 2 bits, si se altera el bit de paridad, etc.</a:t>
            </a:r>
            <a:endParaRPr lang="es-E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Diagrama de bloques módulo </a:t>
            </a:r>
            <a:r>
              <a:rPr lang="es-ES" dirty="0" err="1" smtClean="0"/>
              <a:t>Tx</a:t>
            </a:r>
            <a:endParaRPr lang="es-ES" dirty="0"/>
          </a:p>
        </p:txBody>
      </p:sp>
      <p:pic>
        <p:nvPicPr>
          <p:cNvPr id="10242" name="Picture 2"/>
          <p:cNvPicPr>
            <a:picLocks noChangeAspect="1" noChangeArrowheads="1"/>
          </p:cNvPicPr>
          <p:nvPr/>
        </p:nvPicPr>
        <p:blipFill>
          <a:blip r:embed="rId2" cstate="print"/>
          <a:srcRect/>
          <a:stretch>
            <a:fillRect/>
          </a:stretch>
        </p:blipFill>
        <p:spPr bwMode="auto">
          <a:xfrm>
            <a:off x="36512" y="1412776"/>
            <a:ext cx="9144000" cy="4699888"/>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Unidad de control módulo </a:t>
            </a:r>
            <a:r>
              <a:rPr lang="es-ES" dirty="0" err="1" smtClean="0"/>
              <a:t>Tx</a:t>
            </a:r>
            <a:endParaRPr lang="es-ES" dirty="0"/>
          </a:p>
        </p:txBody>
      </p:sp>
      <p:pic>
        <p:nvPicPr>
          <p:cNvPr id="2050" name="Picture 2"/>
          <p:cNvPicPr>
            <a:picLocks noChangeAspect="1" noChangeArrowheads="1"/>
          </p:cNvPicPr>
          <p:nvPr/>
        </p:nvPicPr>
        <p:blipFill>
          <a:blip r:embed="rId2" cstate="print"/>
          <a:srcRect/>
          <a:stretch>
            <a:fillRect/>
          </a:stretch>
        </p:blipFill>
        <p:spPr bwMode="auto">
          <a:xfrm>
            <a:off x="1475656" y="1628800"/>
            <a:ext cx="5690105" cy="4962883"/>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smtClean="0"/>
              <a:t>Diagrama de bloques de </a:t>
            </a:r>
            <a:br>
              <a:rPr lang="es-ES" dirty="0" smtClean="0"/>
            </a:br>
            <a:r>
              <a:rPr lang="es-ES" dirty="0" smtClean="0"/>
              <a:t>un transmisor </a:t>
            </a:r>
            <a:r>
              <a:rPr lang="es-ES" dirty="0" err="1" smtClean="0"/>
              <a:t>asíncróno</a:t>
            </a:r>
            <a:endParaRPr lang="es-ES" dirty="0"/>
          </a:p>
        </p:txBody>
      </p:sp>
      <p:pic>
        <p:nvPicPr>
          <p:cNvPr id="1028" name="Picture 4"/>
          <p:cNvPicPr>
            <a:picLocks noChangeAspect="1" noChangeArrowheads="1"/>
          </p:cNvPicPr>
          <p:nvPr/>
        </p:nvPicPr>
        <p:blipFill>
          <a:blip r:embed="rId2" cstate="print"/>
          <a:srcRect/>
          <a:stretch>
            <a:fillRect/>
          </a:stretch>
        </p:blipFill>
        <p:spPr bwMode="auto">
          <a:xfrm>
            <a:off x="107504" y="2204864"/>
            <a:ext cx="8694294" cy="3555776"/>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smtClean="0"/>
              <a:t>Diagrama de bloques de una USART</a:t>
            </a:r>
            <a:endParaRPr lang="es-ES" dirty="0"/>
          </a:p>
        </p:txBody>
      </p:sp>
      <p:pic>
        <p:nvPicPr>
          <p:cNvPr id="1026" name="Picture 2"/>
          <p:cNvPicPr>
            <a:picLocks noChangeAspect="1" noChangeArrowheads="1"/>
          </p:cNvPicPr>
          <p:nvPr/>
        </p:nvPicPr>
        <p:blipFill>
          <a:blip r:embed="rId2" cstate="print"/>
          <a:srcRect/>
          <a:stretch>
            <a:fillRect/>
          </a:stretch>
        </p:blipFill>
        <p:spPr bwMode="auto">
          <a:xfrm>
            <a:off x="2102966" y="1772816"/>
            <a:ext cx="7041034" cy="4505036"/>
          </a:xfrm>
          <a:prstGeom prst="rect">
            <a:avLst/>
          </a:prstGeom>
          <a:noFill/>
          <a:ln w="9525">
            <a:noFill/>
            <a:miter lim="800000"/>
            <a:headEnd/>
            <a:tailEnd/>
          </a:ln>
        </p:spPr>
      </p:pic>
      <p:sp>
        <p:nvSpPr>
          <p:cNvPr id="4" name="3 Flecha arriba y abajo"/>
          <p:cNvSpPr/>
          <p:nvPr/>
        </p:nvSpPr>
        <p:spPr>
          <a:xfrm>
            <a:off x="611560" y="1340768"/>
            <a:ext cx="936104" cy="518457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s-ES"/>
          </a:p>
        </p:txBody>
      </p:sp>
      <p:sp>
        <p:nvSpPr>
          <p:cNvPr id="5" name="4 CuadroTexto"/>
          <p:cNvSpPr txBox="1"/>
          <p:nvPr/>
        </p:nvSpPr>
        <p:spPr>
          <a:xfrm>
            <a:off x="1619672" y="3645024"/>
            <a:ext cx="1872208" cy="400110"/>
          </a:xfrm>
          <a:prstGeom prst="rect">
            <a:avLst/>
          </a:prstGeom>
          <a:noFill/>
        </p:spPr>
        <p:txBody>
          <a:bodyPr wrap="square" rtlCol="0">
            <a:spAutoFit/>
          </a:bodyPr>
          <a:lstStyle/>
          <a:p>
            <a:r>
              <a:rPr lang="es-ES" sz="2000" b="1" dirty="0" smtClean="0"/>
              <a:t>SYSTEM BUS</a:t>
            </a:r>
            <a:endParaRPr lang="es-ES" sz="20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ES" dirty="0"/>
          </a:p>
        </p:txBody>
      </p:sp>
      <p:pic>
        <p:nvPicPr>
          <p:cNvPr id="7170" name="Picture 2"/>
          <p:cNvPicPr>
            <a:picLocks noChangeAspect="1" noChangeArrowheads="1"/>
          </p:cNvPicPr>
          <p:nvPr/>
        </p:nvPicPr>
        <p:blipFill>
          <a:blip r:embed="rId2" cstate="print"/>
          <a:srcRect/>
          <a:stretch>
            <a:fillRect/>
          </a:stretch>
        </p:blipFill>
        <p:spPr bwMode="auto">
          <a:xfrm>
            <a:off x="1214438" y="323850"/>
            <a:ext cx="6715125" cy="62103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79512" y="1340768"/>
            <a:ext cx="8784976" cy="4984096"/>
          </a:xfrm>
          <a:prstGeom prst="rect">
            <a:avLst/>
          </a:prstGeom>
          <a:noFill/>
          <a:ln w="9525">
            <a:noFill/>
            <a:miter lim="800000"/>
            <a:headEnd/>
            <a:tailEnd/>
          </a:ln>
        </p:spPr>
      </p:pic>
      <p:sp>
        <p:nvSpPr>
          <p:cNvPr id="6" name="1 Título"/>
          <p:cNvSpPr>
            <a:spLocks noGrp="1"/>
          </p:cNvSpPr>
          <p:nvPr>
            <p:ph type="title"/>
          </p:nvPr>
        </p:nvSpPr>
        <p:spPr>
          <a:xfrm>
            <a:off x="395536" y="404664"/>
            <a:ext cx="8229600" cy="1143000"/>
          </a:xfrm>
        </p:spPr>
        <p:txBody>
          <a:bodyPr>
            <a:normAutofit fontScale="90000"/>
          </a:bodyPr>
          <a:lstStyle/>
          <a:p>
            <a:r>
              <a:rPr lang="es-ES" dirty="0" smtClean="0"/>
              <a:t>Señales en las líneas RS-232 </a:t>
            </a:r>
            <a:r>
              <a:rPr lang="es-ES" dirty="0" err="1" smtClean="0"/>
              <a:t>estandar</a:t>
            </a:r>
            <a:endParaRPr lang="es-ES" dirty="0"/>
          </a:p>
        </p:txBody>
      </p:sp>
      <p:sp>
        <p:nvSpPr>
          <p:cNvPr id="7" name="6 CuadroTexto"/>
          <p:cNvSpPr txBox="1"/>
          <p:nvPr/>
        </p:nvSpPr>
        <p:spPr>
          <a:xfrm>
            <a:off x="395536" y="6237312"/>
            <a:ext cx="4777013" cy="461665"/>
          </a:xfrm>
          <a:prstGeom prst="rect">
            <a:avLst/>
          </a:prstGeom>
          <a:noFill/>
        </p:spPr>
        <p:txBody>
          <a:bodyPr wrap="none" rtlCol="0">
            <a:spAutoFit/>
          </a:bodyPr>
          <a:lstStyle/>
          <a:p>
            <a:r>
              <a:rPr lang="es-ES" sz="2400" dirty="0" smtClean="0"/>
              <a:t>Hace falta un </a:t>
            </a:r>
            <a:r>
              <a:rPr lang="es-ES" sz="2400" dirty="0" err="1" smtClean="0"/>
              <a:t>conversor</a:t>
            </a:r>
            <a:r>
              <a:rPr lang="es-ES" sz="2400" dirty="0" smtClean="0"/>
              <a:t> de tensiones</a:t>
            </a:r>
            <a:endParaRPr lang="es-E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smtClean="0"/>
              <a:t>Conexión RS232 una FPGA</a:t>
            </a:r>
            <a:endParaRPr lang="es-ES" dirty="0"/>
          </a:p>
        </p:txBody>
      </p:sp>
      <p:pic>
        <p:nvPicPr>
          <p:cNvPr id="1026" name="Picture 2"/>
          <p:cNvPicPr>
            <a:picLocks noChangeAspect="1" noChangeArrowheads="1"/>
          </p:cNvPicPr>
          <p:nvPr/>
        </p:nvPicPr>
        <p:blipFill>
          <a:blip r:embed="rId2" cstate="print"/>
          <a:srcRect/>
          <a:stretch>
            <a:fillRect/>
          </a:stretch>
        </p:blipFill>
        <p:spPr bwMode="auto">
          <a:xfrm>
            <a:off x="467544" y="1196752"/>
            <a:ext cx="7846405" cy="5157192"/>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404664"/>
            <a:ext cx="8229600" cy="1143000"/>
          </a:xfrm>
        </p:spPr>
        <p:txBody>
          <a:bodyPr>
            <a:normAutofit fontScale="90000"/>
          </a:bodyPr>
          <a:lstStyle/>
          <a:p>
            <a:r>
              <a:rPr lang="es-ES" dirty="0" smtClean="0"/>
              <a:t>En el PC se usa una aplicación para la comunicación con </a:t>
            </a:r>
            <a:r>
              <a:rPr lang="es-ES" dirty="0" err="1" smtClean="0"/>
              <a:t>Arduino</a:t>
            </a:r>
            <a:r>
              <a:rPr lang="es-ES" dirty="0" smtClean="0"/>
              <a:t> UNO </a:t>
            </a:r>
            <a:endParaRPr lang="es-ES" dirty="0"/>
          </a:p>
        </p:txBody>
      </p:sp>
      <p:pic>
        <p:nvPicPr>
          <p:cNvPr id="11266" name="Picture 2"/>
          <p:cNvPicPr>
            <a:picLocks noChangeAspect="1" noChangeArrowheads="1"/>
          </p:cNvPicPr>
          <p:nvPr/>
        </p:nvPicPr>
        <p:blipFill>
          <a:blip r:embed="rId2" cstate="print"/>
          <a:srcRect/>
          <a:stretch>
            <a:fillRect/>
          </a:stretch>
        </p:blipFill>
        <p:spPr bwMode="auto">
          <a:xfrm>
            <a:off x="1619672" y="1772816"/>
            <a:ext cx="5782015" cy="4344533"/>
          </a:xfrm>
          <a:prstGeom prst="rect">
            <a:avLst/>
          </a:prstGeom>
          <a:noFill/>
          <a:ln w="9525">
            <a:noFill/>
            <a:miter lim="800000"/>
            <a:headEnd/>
            <a:tailEnd/>
          </a:ln>
        </p:spPr>
      </p:pic>
      <p:sp>
        <p:nvSpPr>
          <p:cNvPr id="5" name="4 CuadroTexto"/>
          <p:cNvSpPr txBox="1"/>
          <p:nvPr/>
        </p:nvSpPr>
        <p:spPr>
          <a:xfrm>
            <a:off x="467544" y="6237312"/>
            <a:ext cx="8329588" cy="369332"/>
          </a:xfrm>
          <a:prstGeom prst="rect">
            <a:avLst/>
          </a:prstGeom>
          <a:noFill/>
        </p:spPr>
        <p:txBody>
          <a:bodyPr wrap="none" rtlCol="0">
            <a:spAutoFit/>
          </a:bodyPr>
          <a:lstStyle/>
          <a:p>
            <a:r>
              <a:rPr lang="es-ES" dirty="0" smtClean="0"/>
              <a:t>Ejemplo </a:t>
            </a:r>
            <a:r>
              <a:rPr lang="es-ES" dirty="0" err="1" smtClean="0"/>
              <a:t>hyperterminal</a:t>
            </a:r>
            <a:r>
              <a:rPr lang="es-ES" dirty="0" smtClean="0"/>
              <a:t>  (hay mejores) o incluso existe un terminal en el propio </a:t>
            </a:r>
            <a:r>
              <a:rPr lang="es-ES" dirty="0" err="1" smtClean="0"/>
              <a:t>Arduino</a:t>
            </a:r>
            <a:r>
              <a:rPr lang="es-ES" dirty="0" smtClean="0"/>
              <a:t> </a:t>
            </a:r>
            <a:endParaRPr lang="es-E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Configuración conexión RS232</a:t>
            </a:r>
            <a:endParaRPr lang="es-ES" dirty="0"/>
          </a:p>
        </p:txBody>
      </p:sp>
      <p:pic>
        <p:nvPicPr>
          <p:cNvPr id="12290" name="Picture 2"/>
          <p:cNvPicPr>
            <a:picLocks noChangeAspect="1" noChangeArrowheads="1"/>
          </p:cNvPicPr>
          <p:nvPr/>
        </p:nvPicPr>
        <p:blipFill>
          <a:blip r:embed="rId2" cstate="print"/>
          <a:srcRect/>
          <a:stretch>
            <a:fillRect/>
          </a:stretch>
        </p:blipFill>
        <p:spPr bwMode="auto">
          <a:xfrm>
            <a:off x="0" y="1700808"/>
            <a:ext cx="8903576" cy="4508814"/>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402</TotalTime>
  <Words>350</Words>
  <Application>Microsoft Office PowerPoint</Application>
  <PresentationFormat>Presentación en pantalla (4:3)</PresentationFormat>
  <Paragraphs>35</Paragraphs>
  <Slides>18</Slides>
  <Notes>0</Notes>
  <HiddenSlides>0</HiddenSlides>
  <MMClips>0</MMClips>
  <ScaleCrop>false</ScaleCrop>
  <HeadingPairs>
    <vt:vector size="4" baseType="variant">
      <vt:variant>
        <vt:lpstr>Tema</vt:lpstr>
      </vt:variant>
      <vt:variant>
        <vt:i4>1</vt:i4>
      </vt:variant>
      <vt:variant>
        <vt:lpstr>Títulos de diapositiva</vt:lpstr>
      </vt:variant>
      <vt:variant>
        <vt:i4>18</vt:i4>
      </vt:variant>
    </vt:vector>
  </HeadingPairs>
  <TitlesOfParts>
    <vt:vector size="19" baseType="lpstr">
      <vt:lpstr>Tema de Office</vt:lpstr>
      <vt:lpstr>UART (Universal Asynchronous Receiver-Transmitter ). Comunicación serie asíncrona </vt:lpstr>
      <vt:lpstr>Diapositiva 2</vt:lpstr>
      <vt:lpstr>Diapositiva 3</vt:lpstr>
      <vt:lpstr>Diapositiva 4</vt:lpstr>
      <vt:lpstr>Esquema de la conexión RS-232</vt:lpstr>
      <vt:lpstr>Conexión RS-232 para verificación y test de sistemas electrónicos</vt:lpstr>
      <vt:lpstr>Protocolo de comunicación RS-232</vt:lpstr>
      <vt:lpstr>Bit de paridad</vt:lpstr>
      <vt:lpstr>Diseñar circuitos de detección de paridad para comunicaciones de datos de 8 bits</vt:lpstr>
      <vt:lpstr>Diagrama de bloques módulo Tx</vt:lpstr>
      <vt:lpstr>Unidad de control módulo Tx</vt:lpstr>
      <vt:lpstr>Diagrama de bloques de  un transmisor asíncróno</vt:lpstr>
      <vt:lpstr>Diagrama de bloques de una USART</vt:lpstr>
      <vt:lpstr>Diapositiva 14</vt:lpstr>
      <vt:lpstr>Señales en las líneas RS-232 estandar</vt:lpstr>
      <vt:lpstr>Conexión RS232 una FPGA</vt:lpstr>
      <vt:lpstr>En el PC se usa una aplicación para la comunicación con Arduino UNO </vt:lpstr>
      <vt:lpstr>Configuración conexión RS232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Joseba Ezquerra</dc:creator>
  <cp:lastModifiedBy>Joseba Ezquerra</cp:lastModifiedBy>
  <cp:revision>52</cp:revision>
  <dcterms:created xsi:type="dcterms:W3CDTF">2021-02-04T17:29:44Z</dcterms:created>
  <dcterms:modified xsi:type="dcterms:W3CDTF">2021-02-08T19:45:16Z</dcterms:modified>
</cp:coreProperties>
</file>